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68680"/>
          </a:xfrm>
          <a:prstGeom prst="roundRect">
            <a:avLst/>
          </a:prstGeom>
          <a:solidFill>
            <a:srgbClr val="0F284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Implementation — RL-MOTS-XAI v2: Explainable Dueling DQN Cloud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9D6E8"/>
                </a:solidFill>
                <a:latin typeface="Calibri"/>
              </a:rPr>
              <a:t>Pure NumPy · Real Google Borg + KTH SP2 traces · 4 XAI methods · 6 audited trust metrics · 8-scheduler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66CC"/>
                </a:solidFill>
                <a:latin typeface="Calibri"/>
              </a:rPr>
              <a:t>PIPELINE  (one command: python run_experiment.py)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5577840" cy="402336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847"/>
                </a:solidFill>
                <a:latin typeface="Calibri"/>
              </a:rPr>
              <a:t>Borg/SWF loaders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371600"/>
            <a:ext cx="3154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785"/>
                </a:solidFill>
                <a:latin typeface="Calibri"/>
              </a:rPr>
              <a:t>328 MB, 405k events → cached 5k-task pools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01368"/>
            <a:ext cx="5577840" cy="402336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847"/>
                </a:solidFill>
                <a:latin typeface="Calibri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47088"/>
            <a:ext cx="3154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785"/>
                </a:solidFill>
                <a:latin typeface="Calibri"/>
              </a:rPr>
              <a:t>8 VMs, parallel time-sharing, 45-dim state, shaped reward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276856"/>
            <a:ext cx="5577840" cy="402336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22576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847"/>
                </a:solidFill>
                <a:latin typeface="Calibri"/>
              </a:rPr>
              <a:t>Dueling Double-DQN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22576"/>
            <a:ext cx="3154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785"/>
                </a:solidFill>
                <a:latin typeface="Calibri"/>
              </a:rPr>
              <a:t>45→128→64 → value(32→1)+advantage(32→8); mask util&gt;0.9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52344"/>
            <a:ext cx="5577840" cy="402336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98064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847"/>
                </a:solidFill>
                <a:latin typeface="Calibri"/>
              </a:rPr>
              <a:t>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798064"/>
            <a:ext cx="3154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785"/>
                </a:solidFill>
                <a:latin typeface="Calibri"/>
              </a:rPr>
              <a:t>300 eps · curriculum · SumTree PER · τ=0.005 soft sync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227832"/>
            <a:ext cx="5577840" cy="402336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7355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847"/>
                </a:solidFill>
                <a:latin typeface="Calibri"/>
              </a:rPr>
              <a:t>XAI +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273552"/>
            <a:ext cx="3154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785"/>
                </a:solidFill>
                <a:latin typeface="Calibri"/>
              </a:rPr>
              <a:t>SHAP·Grad×Input·Occlusion·IG → 6 faithfulness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4048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D9B6B"/>
                </a:solidFill>
                <a:latin typeface="Calibri"/>
              </a:rPr>
              <a:t>KEY IMPLEMENTATION IDEAS (ablation-validated)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160520"/>
            <a:ext cx="5577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F2847"/>
                </a:solidFill>
                <a:latin typeface="Calibri"/>
              </a:rPr>
              <a:t>▪ Dueling Q = V+(A−Ā) — removing it costs +34% cost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0F2847"/>
                </a:solidFill>
                <a:latin typeface="Calibri"/>
              </a:rPr>
              <a:t>▪ Safety mask on saturated VMs — removing it costs +37%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0F2847"/>
                </a:solidFill>
                <a:latin typeface="Calibri"/>
              </a:rPr>
              <a:t>▪ Corrected AOPC: normalize by Q-spread, not |Q|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0F2847"/>
                </a:solidFill>
                <a:latin typeface="Calibri"/>
              </a:rPr>
              <a:t>▪ XAI explains the deployed masked policy (what operators see)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06440"/>
            <a:ext cx="5577840" cy="868680"/>
          </a:xfrm>
          <a:prstGeom prst="roundRect">
            <a:avLst/>
          </a:prstGeom>
          <a:solidFill>
            <a:srgbClr val="0A1E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97880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7EE8B0"/>
                </a:solidFill>
                <a:latin typeface="Calibri"/>
              </a:rPr>
              <a:t>reproduce:  python run_experiment.py → plots.py → build_dashboard.py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C9D6E8"/>
                </a:solidFill>
                <a:latin typeface="Calibri"/>
              </a:rPr>
              <a:t>outputs: dashboard · Figure 1 (PDF/SVG) · decision_log (60 explained) · significance · ablation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00584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66CC"/>
                </a:solidFill>
                <a:latin typeface="Calibri"/>
              </a:rPr>
              <a:t>RESULTS  (Borg, 5 seeds, mean ± std)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263640" y="1325880"/>
          <a:ext cx="5532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60120"/>
                <a:gridCol w="914400"/>
                <a:gridCol w="822960"/>
                <a:gridCol w="82296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Scheduler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Makespan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Miss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</a:t>
                      </a:r>
                    </a:p>
                  </a:txBody>
                  <a:tcPr>
                    <a:solidFill>
                      <a:srgbClr val="0F284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2847"/>
                          </a:solidFill>
                          <a:latin typeface="Calibri"/>
                        </a:rPr>
                        <a:t>Min-Min (best heur.)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847"/>
                          </a:solidFill>
                          <a:latin typeface="Calibri"/>
                        </a:rPr>
                        <a:t>1194±18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847"/>
                          </a:solidFill>
                          <a:latin typeface="Calibri"/>
                        </a:rPr>
                        <a:t>32,036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847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847"/>
                          </a:solidFill>
                          <a:latin typeface="Calibri"/>
                        </a:rPr>
                        <a:t>4.29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D9B6B"/>
                          </a:solidFill>
                          <a:latin typeface="Calibri"/>
                        </a:rPr>
                        <a:t>DQN (ours)</a:t>
                      </a:r>
                    </a:p>
                  </a:txBody>
                  <a:tcPr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D9B6B"/>
                          </a:solidFill>
                          <a:latin typeface="Calibri"/>
                        </a:rPr>
                        <a:t>1194±18</a:t>
                      </a:r>
                    </a:p>
                  </a:txBody>
                  <a:tcPr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D9B6B"/>
                          </a:solidFill>
                          <a:latin typeface="Calibri"/>
                        </a:rPr>
                        <a:t>29,141</a:t>
                      </a:r>
                    </a:p>
                  </a:txBody>
                  <a:tcPr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D9B6B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D9B6B"/>
                          </a:solidFill>
                          <a:latin typeface="Calibri"/>
                        </a:rPr>
                        <a:t>1.04</a:t>
                      </a:r>
                    </a:p>
                  </a:txBody>
                  <a:tcPr>
                    <a:solidFill>
                      <a:srgbClr val="E8F7E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2847"/>
                          </a:solidFill>
                          <a:latin typeface="Calibri"/>
                        </a:rPr>
                        <a:t>PSO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847"/>
                          </a:solidFill>
                          <a:latin typeface="Calibri"/>
                        </a:rPr>
                        <a:t>3054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847"/>
                          </a:solidFill>
                          <a:latin typeface="Calibri"/>
                        </a:rPr>
                        <a:t>9,615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847"/>
                          </a:solidFill>
                          <a:latin typeface="Calibri"/>
                        </a:rPr>
                        <a:t>44.1%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2847"/>
                          </a:solidFill>
                          <a:latin typeface="Calibri"/>
                        </a:rPr>
                        <a:t>25.2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263640" y="288036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A2B8"/>
                </a:solidFill>
                <a:latin typeface="Calibri"/>
              </a:rPr>
              <a:t>HEADLINE 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200400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F2847"/>
                </a:solidFill>
                <a:latin typeface="Calibri"/>
              </a:rPr>
              <a:t>▪ Ties best makespan &amp; 0.0% miss; cheaper than Min-Min (Wilcoxon p=0.0004)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0F2847"/>
                </a:solidFill>
                <a:latin typeface="Calibri"/>
              </a:rPr>
              <a:t>▪ #1 load balance of 8 schedulers (DI 1.04 ± 0.03)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0F2847"/>
                </a:solidFill>
                <a:latin typeface="Calibri"/>
              </a:rPr>
              <a:t>▪ Cross-dataset: Min-Min collapses 14× on KTH — DQN within 1.44× of best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0F2847"/>
                </a:solidFill>
                <a:latin typeface="Calibri"/>
              </a:rPr>
              <a:t>▪ Occlusion most faithful (AOPC 1.13) vs Grad×Input 340× faster (0.16 ms)</a:t>
            </a:r>
          </a:p>
        </p:txBody>
      </p:sp>
      <p:pic>
        <p:nvPicPr>
          <p:cNvPr id="29" name="Picture 28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4800600"/>
            <a:ext cx="5532120" cy="400804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63640" y="644652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785"/>
                </a:solidFill>
                <a:latin typeface="Calibri"/>
              </a:rPr>
              <a:t>Figure 1 — network · masked dispatch · training · audited XAI (publication format)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