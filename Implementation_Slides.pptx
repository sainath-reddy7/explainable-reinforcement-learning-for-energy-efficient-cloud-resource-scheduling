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97280" cy="54864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RL-MOTS-XAI v2</a:t>
            </a:r>
          </a:p>
          <a:p>
            <a:pPr algn="l">
              <a:lnSpc>
                <a:spcPct val="110000"/>
              </a:lnSpc>
            </a:pPr>
            <a:r>
              <a:rPr sz="2000" b="0">
                <a:solidFill>
                  <a:srgbClr val="9FC5E8"/>
                </a:solidFill>
                <a:latin typeface="Calibri"/>
              </a:rPr>
              <a:t>Explainable Reinforcement Learning for Energy-Efficient Cloud Resource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7A2B8"/>
                </a:solidFill>
                <a:latin typeface="Calibri"/>
              </a:rPr>
              <a:t>Dueling Double-DQN + Safety Action Mask  ·  4 XAI Methods  ·  6 Audited Trust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D6E8"/>
                </a:solidFill>
                <a:latin typeface="Calibri"/>
              </a:rPr>
              <a:t>Trained on real Google Borg traces (328 MB · 405k events) and validated on KTH SP2 HPC traces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D6E8"/>
                </a:solidFill>
                <a:latin typeface="Calibri"/>
              </a:rPr>
              <a:t>100% pure NumPy — every backprop step, Shapley value and trust metric hand-built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A6C0"/>
                </a:solidFill>
                <a:latin typeface="Calibri"/>
              </a:rPr>
              <a:t>Implementation Review — Integrated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Implementation Flow — Six-Phase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6E8"/>
                </a:solidFill>
                <a:latin typeface="Calibri"/>
              </a:rPr>
              <a:t>Every phase is a standalone module; the whole pipeline reproduces with one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703320" cy="25146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6CC"/>
                </a:solidFill>
                <a:latin typeface="Calibri"/>
              </a:rPr>
              <a:t>1 · Data Ingestion   (borg_loader.py / swf_loader.py)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34290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0F2847"/>
                </a:solidFill>
                <a:latin typeface="Calibri"/>
              </a:rPr>
              <a:t>Parse 328 MB Google Borg CSV (405k events) + KTH SP2 SWF log; filter completed jobs; cache 5,000-task pools (.npz) for &lt;0.1 s reloads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703320" cy="25146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17A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0759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A2B8"/>
                </a:solidFill>
                <a:latin typeface="Calibri"/>
              </a:rPr>
              <a:t>2 · Environment   (env.py)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18488"/>
            <a:ext cx="34290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0F2847"/>
                </a:solidFill>
                <a:latin typeface="Calibri"/>
              </a:rPr>
              <a:t>8 heterogeneous VMs (2 edge + 6 cloud) with parallel time-shared execution; 45-dim state (5 task + 5×8 VM features); QoS-dominated reward with potential-based shaping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703320" cy="25146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D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30759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9B6B"/>
                </a:solidFill>
                <a:latin typeface="Calibri"/>
              </a:rPr>
              <a:t>3 · Decision Engine   (qnetwork.py / dqn_agent.py)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1618488"/>
            <a:ext cx="34290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0F2847"/>
                </a:solidFill>
                <a:latin typeface="Calibri"/>
              </a:rPr>
              <a:t>Dueling Double-DQN in pure NumPy: shared backbone 45→128→64, value stream →32→1, advantage stream →32→8; safety mask blocks VMs &gt;90% util before argmax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31920"/>
            <a:ext cx="3703320" cy="25146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0507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7D60"/>
                </a:solidFill>
                <a:latin typeface="Calibri"/>
              </a:rPr>
              <a:t>4 · Training   (train.py)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15968"/>
            <a:ext cx="34290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0F2847"/>
                </a:solidFill>
                <a:latin typeface="Calibri"/>
              </a:rPr>
              <a:t>300 episodes · curriculum batching 150–500 tasks · SumTree PER (50k, α=0.6, β→1) · soft target sync τ=0.005 · Adam with grad clipping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703320" cy="25146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00507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6CC"/>
                </a:solidFill>
                <a:latin typeface="Calibri"/>
              </a:rPr>
              <a:t>5 · Explainability   (explainability.py)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15968"/>
            <a:ext cx="34290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0F2847"/>
                </a:solidFill>
                <a:latin typeface="Calibri"/>
              </a:rPr>
              <a:t>KernelSHAP (250 coalitions + WLS), Gradient×Input (exact analytic), Occlusion, Integrated Gradients — all explain the same masked policy that 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931920"/>
            <a:ext cx="3703320" cy="25146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17A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400507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A2B8"/>
                </a:solidFill>
                <a:latin typeface="Calibri"/>
              </a:rPr>
              <a:t>6 · Trust Audit + UI   (fidelity.py / dashboard)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4315968"/>
            <a:ext cx="34290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0F2847"/>
                </a:solidFill>
                <a:latin typeface="Calibri"/>
              </a:rPr>
              <a:t>6 metrics (del/ins AOPC, top-k fidelity, consistency, infidelity, stability) + operator console, publication Figure 1, animated walkthrough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Model Architecture — Figure 1 (publication format)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6E8"/>
                </a:solidFill>
                <a:latin typeface="Calibri"/>
              </a:rPr>
              <a:t>Nature-style figure: 183 mm double-column, vector PDF/SVG, zero collisions machine-verified</a:t>
            </a:r>
          </a:p>
        </p:txBody>
      </p:sp>
      <p:pic>
        <p:nvPicPr>
          <p:cNvPr id="5" name="Picture 4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80823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785"/>
                </a:solidFill>
                <a:latin typeface="Calibri"/>
              </a:rPr>
              <a:t>a network · b masked dispatch · c prioritized-replay training · d audited attributions (real deletion-AOPC values)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Key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6E8"/>
                </a:solidFill>
                <a:latin typeface="Calibri"/>
              </a:rPr>
              <a:t>What makes this build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F2847"/>
                </a:solidFill>
                <a:latin typeface="Calibri"/>
              </a:rPr>
              <a:t>▪ Dueling decomposition  </a:t>
            </a:r>
            <a:r>
              <a:rPr sz="1200">
                <a:solidFill>
                  <a:srgbClr val="6B7785"/>
                </a:solidFill>
                <a:latin typeface="Calibri"/>
              </a:rPr>
              <a:t>Q(s,a) = V(s) + (A − Ā): value stream learns pool health, advantage stream learns per-VM preference — ablation: removing it costs +34% cost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F2847"/>
                </a:solidFill>
                <a:latin typeface="Calibri"/>
              </a:rPr>
              <a:t>▪ Safety action mask  </a:t>
            </a:r>
            <a:r>
              <a:rPr sz="1200">
                <a:solidFill>
                  <a:srgbClr val="6B7785"/>
                </a:solidFill>
                <a:latin typeface="Calibri"/>
              </a:rPr>
              <a:t>pure function of the observed state: util &gt; 0.9 ⇒ Q ← −∞ before argmax AND during exploration — ablation: +37% cost without it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F2847"/>
                </a:solidFill>
                <a:latin typeface="Calibri"/>
              </a:rPr>
              <a:t>▪ Double DQN + PER  </a:t>
            </a:r>
            <a:r>
              <a:rPr sz="1200">
                <a:solidFill>
                  <a:srgbClr val="6B7785"/>
                </a:solidFill>
                <a:latin typeface="Calibri"/>
              </a:rPr>
              <a:t>online net selects, target net evaluates (kills overestimation); SumTree samples high-|TD| transitions 50k× faster than a list scan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F2847"/>
                </a:solidFill>
                <a:latin typeface="Calibri"/>
              </a:rPr>
              <a:t>▪ Potential-based shaping  </a:t>
            </a:r>
            <a:r>
              <a:rPr sz="1200">
                <a:solidFill>
                  <a:srgbClr val="6B7785"/>
                </a:solidFill>
                <a:latin typeface="Calibri"/>
              </a:rPr>
              <a:t>F = γΦ(s′) − Φ(s) with Φ = −(imbalance + queue): dense signal, provably policy-invariant (Ng et al. 1999)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234440"/>
            <a:ext cx="52120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F2847"/>
                </a:solidFill>
                <a:latin typeface="Calibri"/>
              </a:rPr>
              <a:t>▪ Parallel VM model  </a:t>
            </a:r>
            <a:r>
              <a:rPr sz="1200">
                <a:solidFill>
                  <a:srgbClr val="6B7785"/>
                </a:solidFill>
                <a:latin typeface="Calibri"/>
              </a:rPr>
              <a:t>each VM tracks its live task set; finish time stretched by oversubscription ratio → schedulers produce genuinely distinct makespans/miss rates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F2847"/>
                </a:solidFill>
                <a:latin typeface="Calibri"/>
              </a:rPr>
              <a:t>▪ Corrected AOPC  </a:t>
            </a:r>
            <a:r>
              <a:rPr sz="1200">
                <a:solidFill>
                  <a:srgbClr val="6B7785"/>
                </a:solidFill>
                <a:latin typeface="Calibri"/>
              </a:rPr>
              <a:t>deletion/insertion normalized by Q-spread (decision margin) instead of |Q| — fixes sign-flip on large Q, clamped to [−5, 5]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F2847"/>
                </a:solidFill>
                <a:latin typeface="Calibri"/>
              </a:rPr>
              <a:t>▪ Explain the deployed policy  </a:t>
            </a:r>
            <a:r>
              <a:rPr sz="1200">
                <a:solidFill>
                  <a:srgbClr val="6B7785"/>
                </a:solidFill>
                <a:latin typeface="Calibri"/>
              </a:rPr>
              <a:t>XAI scores Q + mask — the exact function that acts — so fidelity measures what operators actually see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F2847"/>
                </a:solidFill>
                <a:latin typeface="Calibri"/>
              </a:rPr>
              <a:t>▪ One-command reproducibility  </a:t>
            </a:r>
            <a:r>
              <a:rPr sz="1200">
                <a:solidFill>
                  <a:srgbClr val="6B7785"/>
                </a:solidFill>
                <a:latin typeface="Calibri"/>
              </a:rPr>
              <a:t>config.yaml drives everything; mtime-keyed caches; manifest logs seed, platform, dataset stats, runtime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Evaluation &amp; Results — Real Borg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6E8"/>
                </a:solidFill>
                <a:latin typeface="Calibri"/>
              </a:rPr>
              <a:t>8 schedulers × 5 loads (200–1000 tasks) × 5 seeds; identical VM pool (seed 42) for fairness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005840"/>
                <a:gridCol w="777240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Makespan (s)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($)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Miss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847"/>
                          </a:solidFill>
                          <a:latin typeface="Calibri"/>
                        </a:rPr>
                        <a:t>Min-Min (best heuristic)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847"/>
                          </a:solidFill>
                          <a:latin typeface="Calibri"/>
                        </a:rPr>
                        <a:t>1194 ± 18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847"/>
                          </a:solidFill>
                          <a:latin typeface="Calibri"/>
                        </a:rPr>
                        <a:t>32,036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847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847"/>
                          </a:solidFill>
                          <a:latin typeface="Calibri"/>
                        </a:rPr>
                        <a:t>4.29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9B6B"/>
                          </a:solidFill>
                          <a:latin typeface="Calibri"/>
                        </a:rPr>
                        <a:t>DQN (ours)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D9B6B"/>
                          </a:solidFill>
                          <a:latin typeface="Calibri"/>
                        </a:rPr>
                        <a:t>1194 ± 18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D9B6B"/>
                          </a:solidFill>
                          <a:latin typeface="Calibri"/>
                        </a:rPr>
                        <a:t>29,141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D9B6B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D9B6B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880360"/>
            <a:ext cx="5852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Ties the best makespan &amp; miss rate across every load  </a:t>
            </a:r>
          </a:p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Significantly cheaper than Min-Min (Wilcoxon p = 0.0004, n = 75)  </a:t>
            </a:r>
          </a:p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#1 load balance of all 8 schedulers (DI 1.04 ± 0.03)  </a:t>
            </a:r>
          </a:p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Cross-dataset: Borg's champion Min-Min collapses 14× on KTH; our DQN stays within 1.44× of best  </a:t>
            </a:r>
          </a:p>
        </p:txBody>
      </p:sp>
      <p:pic>
        <p:nvPicPr>
          <p:cNvPr id="7" name="Picture 6" descr="schedul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34440"/>
            <a:ext cx="696687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Explainability Layer &amp; Trust Audit — The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6E8"/>
                </a:solidFill>
                <a:latin typeface="Calibri"/>
              </a:rPr>
              <a:t>Explanations are mathematically audited, not just displayed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69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4 attribution methods  </a:t>
            </a:r>
            <a:r>
              <a:rPr sz="1150">
                <a:solidFill>
                  <a:srgbClr val="6B7785"/>
                </a:solidFill>
                <a:latin typeface="Calibri"/>
              </a:rPr>
              <a:t>KernelSHAP · Gradient×Input · Occlusion · Integrated Gradients explain the same 60 live dispatch decisions</a:t>
            </a:r>
          </a:p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6 trust metrics  </a:t>
            </a:r>
            <a:r>
              <a:rPr sz="1150">
                <a:solidFill>
                  <a:srgbClr val="6B7785"/>
                </a:solidFill>
                <a:latin typeface="Calibri"/>
              </a:rPr>
              <a:t>deletion/insertion AOPC · top-k fidelity · consistency · infidelity · stability — every method verified faithful (positive AOPC)</a:t>
            </a:r>
          </a:p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Audited trade-off  </a:t>
            </a:r>
            <a:r>
              <a:rPr sz="1150">
                <a:solidFill>
                  <a:srgbClr val="6B7785"/>
                </a:solidFill>
                <a:latin typeface="Calibri"/>
              </a:rPr>
              <a:t>Occlusion most faithful (1.13) vs Gradient×Input 340× faster (0.16 ms) — no single method dominates</a:t>
            </a:r>
          </a:p>
        </p:txBody>
      </p:sp>
      <p:pic>
        <p:nvPicPr>
          <p:cNvPr id="6" name="Picture 5" descr="xai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77639"/>
            <a:ext cx="5669280" cy="1767191"/>
          </a:xfrm>
          <a:prstGeom prst="rect">
            <a:avLst/>
          </a:prstGeom>
        </p:spPr>
      </p:pic>
      <p:pic>
        <p:nvPicPr>
          <p:cNvPr id="7" name="Picture 6" descr="dqn_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5394960" cy="19207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63093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785"/>
                </a:solidFill>
                <a:latin typeface="Calibri"/>
              </a:rPr>
              <a:t>Dueling DQN learning curve — stable convergence, no divergence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Publication Rigor &amp; How to Reproduce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6E8"/>
                </a:solidFill>
                <a:latin typeface="Calibri"/>
              </a:rPr>
              <a:t>Statistically validated; one command regenerates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5-seed evaluation  </a:t>
            </a:r>
            <a:r>
              <a:rPr sz="1150">
                <a:solidFill>
                  <a:srgbClr val="6B7785"/>
                </a:solidFill>
                <a:latin typeface="Calibri"/>
              </a:rPr>
              <a:t>mean ± std across seeds 0–4 — DQN tops the table with tight variance (cost 29,141 ± 3,097)</a:t>
            </a:r>
          </a:p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Wilcoxon signed-rank  </a:t>
            </a:r>
            <a:r>
              <a:rPr sz="1150">
                <a:solidFill>
                  <a:srgbClr val="6B7785"/>
                </a:solidFill>
                <a:latin typeface="Calibri"/>
              </a:rPr>
              <a:t>significantly better than FCFS/RR/Greedy on all metrics (p &lt; 0.0002, n = 75 pairs)</a:t>
            </a:r>
          </a:p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4-way ablation  </a:t>
            </a:r>
            <a:r>
              <a:rPr sz="1150">
                <a:solidFill>
                  <a:srgbClr val="6B7785"/>
                </a:solidFill>
                <a:latin typeface="Calibri"/>
              </a:rPr>
              <a:t>Dueling (+34% if removed) and mask (+37%) are the load-bearing ideas; PER ≈ neutral at this scale — reported honestly</a:t>
            </a:r>
          </a:p>
          <a:p>
            <a:pPr>
              <a:lnSpc>
                <a:spcPct val="115000"/>
              </a:lnSpc>
            </a:pPr>
            <a:r>
              <a:rPr sz="1250" b="1">
                <a:solidFill>
                  <a:srgbClr val="0F2847"/>
                </a:solidFill>
                <a:latin typeface="Calibri"/>
              </a:rPr>
              <a:t>▪ Dual datasets  </a:t>
            </a:r>
            <a:r>
              <a:rPr sz="1150">
                <a:solidFill>
                  <a:srgbClr val="6B7785"/>
                </a:solidFill>
                <a:latin typeface="Calibri"/>
              </a:rPr>
              <a:t>Google Borg (cloud, light) + KTH SP2 (HPC, heavy) — robustness where heuristic rankings invert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71600"/>
            <a:ext cx="5120640" cy="4206240"/>
          </a:xfrm>
          <a:prstGeom prst="roundRect">
            <a:avLst/>
          </a:prstGeom>
          <a:solidFill>
            <a:srgbClr val="0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60020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7A2B8"/>
                </a:solidFill>
                <a:latin typeface="Calibri"/>
              </a:rPr>
              <a:t>&gt; reproduce everything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EF5"/>
                </a:solidFill>
                <a:latin typeface="Calibri"/>
              </a:rPr>
              <a:t>cd cloud_rl_xai_project_v2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7EE8B0"/>
                </a:solidFill>
                <a:latin typeface="Calibri"/>
              </a:rPr>
              <a:t>python run_experiment.py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785"/>
                </a:solidFill>
                <a:latin typeface="Calibri"/>
              </a:rPr>
              <a:t>   # train + evaluate + explain  (~14 min)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7EE8B0"/>
                </a:solidFill>
                <a:latin typeface="Calibri"/>
              </a:rPr>
              <a:t>python plots.py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7EE8B0"/>
                </a:solidFill>
                <a:latin typeface="Calibri"/>
              </a:rPr>
              <a:t>python build_dashboard.py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7EE8B0"/>
                </a:solidFill>
                <a:latin typeface="Calibri"/>
              </a:rPr>
              <a:t>python rigor.py --job aggregate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EF5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C9D6E8"/>
                </a:solidFill>
                <a:latin typeface="Calibri"/>
              </a:rPr>
              <a:t>Outputs:  dashboard.html · Figure 1 (PDF/SVG)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C9D6E8"/>
                </a:solidFill>
                <a:latin typeface="Calibri"/>
              </a:rPr>
              <a:t>decision_log.json (60 explained decisions)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C9D6E8"/>
                </a:solidFill>
                <a:latin typeface="Calibri"/>
              </a:rPr>
              <a:t>significance.json · ablation.json · manifest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5760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F2847"/>
                </a:solidFill>
                <a:latin typeface="Calibri"/>
              </a:rPr>
              <a:t>Live demo: dashboard Decision-Log tab — pick any row: the AI chose VM1 because vm1_util pushed its Q-value up (+2.59), verified faithful.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